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1222"/>
        </a:solidFill>
        <a:effectLst/>
      </p:bgPr>
    </p:bg>
    <p:spTree>
      <p:nvGrpSpPr>
        <p:cNvPr id="1" name=""/>
        <p:cNvGrpSpPr/>
        <p:nvPr/>
      </p:nvGrpSpPr>
      <p:grpSpPr/>
      <p:sp>
        <p:nvSpPr>
          <p:cNvPr id="2" name="TextBox 1"/>
          <p:cNvSpPr txBox="1"/>
          <p:nvPr/>
        </p:nvSpPr>
        <p:spPr>
          <a:xfrm>
            <a:off x="731520" y="1463040"/>
            <a:ext cx="10698480" cy="2194560"/>
          </a:xfrm>
          <a:prstGeom prst="rect">
            <a:avLst/>
          </a:prstGeom>
          <a:noFill/>
        </p:spPr>
        <p:txBody>
          <a:bodyPr wrap="none">
            <a:spAutoFit/>
          </a:bodyPr>
          <a:lstStyle/>
          <a:p>
            <a:pPr>
              <a:defRPr sz="4200" b="1">
                <a:solidFill>
                  <a:srgbClr val="F5F7FA"/>
                </a:solidFill>
              </a:defRPr>
            </a:pPr>
            <a:r>
              <a:t>FastPPM</a:t>
            </a:r>
            <a:br/>
            <a:r>
              <a:t>Platform Guide</a:t>
            </a:r>
          </a:p>
          <a:p>
            <a:pPr>
              <a:defRPr sz="1800">
                <a:solidFill>
                  <a:srgbClr val="F97316"/>
                </a:solidFill>
              </a:defRPr>
            </a:pPr>
            <a:r>
              <a:t>2026-08-19  •  https://ppm.fastsme.com</a:t>
            </a:r>
          </a:p>
        </p:txBody>
      </p:sp>
      <p:sp>
        <p:nvSpPr>
          <p:cNvPr id="3" name="TextBox 2"/>
          <p:cNvSpPr txBox="1"/>
          <p:nvPr/>
        </p:nvSpPr>
        <p:spPr>
          <a:xfrm>
            <a:off x="731520" y="4206240"/>
            <a:ext cx="10241280" cy="1188720"/>
          </a:xfrm>
          <a:prstGeom prst="rect">
            <a:avLst/>
          </a:prstGeom>
          <a:noFill/>
        </p:spPr>
        <p:txBody>
          <a:bodyPr wrap="none">
            <a:spAutoFit/>
          </a:bodyPr>
          <a:lstStyle/>
          <a:p>
            <a:pPr>
              <a:defRPr sz="1600">
                <a:solidFill>
                  <a:srgbClr val="B1BCCC"/>
                </a:solidFill>
              </a:defRPr>
            </a:pPr>
            <a:r>
              <a:t>A conversational-first project-management and use-case-tracking tool for a single PE portfolio company's **Transformation Office**. FastPPM ingests messy, siloed documents (PDF status reports, Excel trackers, PowerPoint decks, Word charters), normalises them to a canonical schema, and delivers a unified master reposito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1222"/>
        </a:solidFill>
        <a:effectLst/>
      </p:bgPr>
    </p:bg>
    <p:spTree>
      <p:nvGrpSpPr>
        <p:cNvPr id="1" name=""/>
        <p:cNvGrpSpPr/>
        <p:nvPr/>
      </p:nvGrpSpPr>
      <p:grpSpPr/>
      <p:sp>
        <p:nvSpPr>
          <p:cNvPr id="2" name="TextBox 1"/>
          <p:cNvSpPr txBox="1"/>
          <p:nvPr/>
        </p:nvSpPr>
        <p:spPr>
          <a:xfrm>
            <a:off x="548640" y="320040"/>
            <a:ext cx="11064240" cy="594360"/>
          </a:xfrm>
          <a:prstGeom prst="rect">
            <a:avLst/>
          </a:prstGeom>
          <a:noFill/>
        </p:spPr>
        <p:txBody>
          <a:bodyPr wrap="none">
            <a:spAutoFit/>
          </a:bodyPr>
          <a:lstStyle/>
          <a:p>
            <a:pPr>
              <a:defRPr sz="2700" b="1">
                <a:solidFill>
                  <a:srgbClr val="F5F7FA"/>
                </a:solidFill>
              </a:defRPr>
            </a:pPr>
            <a:r>
              <a:t>Turn strategy into a portfolio people can actually run.</a:t>
            </a:r>
          </a:p>
        </p:txBody>
      </p:sp>
      <p:pic>
        <p:nvPicPr>
          <p:cNvPr id="3" name="Picture 2" descr="01-turn-strategy-into-a-portfolio-people-can-actual.png"/>
          <p:cNvPicPr>
            <a:picLocks noChangeAspect="1"/>
          </p:cNvPicPr>
          <p:nvPr/>
        </p:nvPicPr>
        <p:blipFill>
          <a:blip r:embed="rId2"/>
          <a:stretch>
            <a:fillRect/>
          </a:stretch>
        </p:blipFill>
        <p:spPr>
          <a:xfrm>
            <a:off x="548640" y="1097280"/>
            <a:ext cx="7924799" cy="4953000"/>
          </a:xfrm>
          <a:prstGeom prst="rect">
            <a:avLst/>
          </a:prstGeom>
        </p:spPr>
      </p:pic>
      <p:sp>
        <p:nvSpPr>
          <p:cNvPr id="4" name="TextBox 3"/>
          <p:cNvSpPr txBox="1"/>
          <p:nvPr/>
        </p:nvSpPr>
        <p:spPr>
          <a:xfrm>
            <a:off x="9646920" y="1143000"/>
            <a:ext cx="1965960" cy="5120640"/>
          </a:xfrm>
          <a:prstGeom prst="rect">
            <a:avLst/>
          </a:prstGeom>
          <a:noFill/>
        </p:spPr>
        <p:txBody>
          <a:bodyPr wrap="none">
            <a:spAutoFit/>
          </a:bodyPr>
          <a:lstStyle/>
          <a:p>
            <a:pPr>
              <a:defRPr sz="1200">
                <a:solidFill>
                  <a:srgbClr val="B1BCCC"/>
                </a:solidFill>
              </a:defRPr>
            </a:pPr>
            <a:r>
              <a:t>PROJECTS AND PORTFOLIOS Turn strategy into a portfolio people can actually run. Connect initiatives, value plans, timelines, documents, reports, prompts, and portfolio decisions in one workspace. Sign In or Register Explore the open-source suite → Product tour</a:t>
            </a:r>
          </a:p>
          <a:p>
            <a:pPr>
              <a:defRPr sz="900">
                <a:solidFill>
                  <a:srgbClr val="F97316"/>
                </a:solidFill>
              </a:defRPr>
            </a:pPr>
            <a:r>
              <a:t>https://ppm.fastsme.com/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1222"/>
        </a:solidFill>
        <a:effectLst/>
      </p:bgPr>
    </p:bg>
    <p:spTree>
      <p:nvGrpSpPr>
        <p:cNvPr id="1" name=""/>
        <p:cNvGrpSpPr/>
        <p:nvPr/>
      </p:nvGrpSpPr>
      <p:grpSpPr/>
      <p:sp>
        <p:nvSpPr>
          <p:cNvPr id="2" name="TextBox 1"/>
          <p:cNvSpPr txBox="1"/>
          <p:nvPr/>
        </p:nvSpPr>
        <p:spPr>
          <a:xfrm>
            <a:off x="548640" y="320040"/>
            <a:ext cx="11064240" cy="594360"/>
          </a:xfrm>
          <a:prstGeom prst="rect">
            <a:avLst/>
          </a:prstGeom>
          <a:noFill/>
        </p:spPr>
        <p:txBody>
          <a:bodyPr wrap="none">
            <a:spAutoFit/>
          </a:bodyPr>
          <a:lstStyle/>
          <a:p>
            <a:pPr>
              <a:defRPr sz="2700" b="1">
                <a:solidFill>
                  <a:srgbClr val="F5F7FA"/>
                </a:solidFill>
              </a:defRPr>
            </a:pPr>
            <a:r>
              <a:t>Build with the FastPPM API.</a:t>
            </a:r>
          </a:p>
        </p:txBody>
      </p:sp>
      <p:pic>
        <p:nvPicPr>
          <p:cNvPr id="3" name="Picture 2" descr="02-build-with-the-fastppm-api.png"/>
          <p:cNvPicPr>
            <a:picLocks noChangeAspect="1"/>
          </p:cNvPicPr>
          <p:nvPr/>
        </p:nvPicPr>
        <p:blipFill>
          <a:blip r:embed="rId2"/>
          <a:stretch>
            <a:fillRect/>
          </a:stretch>
        </p:blipFill>
        <p:spPr>
          <a:xfrm>
            <a:off x="548640" y="1097280"/>
            <a:ext cx="7924799" cy="4953000"/>
          </a:xfrm>
          <a:prstGeom prst="rect">
            <a:avLst/>
          </a:prstGeom>
        </p:spPr>
      </p:pic>
      <p:sp>
        <p:nvSpPr>
          <p:cNvPr id="4" name="TextBox 3"/>
          <p:cNvSpPr txBox="1"/>
          <p:nvPr/>
        </p:nvSpPr>
        <p:spPr>
          <a:xfrm>
            <a:off x="9646920" y="1143000"/>
            <a:ext cx="1965960" cy="5120640"/>
          </a:xfrm>
          <a:prstGeom prst="rect">
            <a:avLst/>
          </a:prstGeom>
          <a:noFill/>
        </p:spPr>
        <p:txBody>
          <a:bodyPr wrap="none">
            <a:spAutoFit/>
          </a:bodyPr>
          <a:lstStyle/>
          <a:p>
            <a:pPr>
              <a:defRPr sz="1200">
                <a:solidFill>
                  <a:srgbClr val="B1BCCC"/>
                </a:solidFill>
              </a:defRPr>
            </a:pPr>
            <a:r>
              <a:t>FastPPM Developers Back to product DEVELOPER PLATFORM · API V1 Build with the FastPPM API. Read the live demo database through a typed, versioned API. Selected integration writes are implemented behind bearer-token authentication. Open Swagger UI Open ReDoc Do</a:t>
            </a:r>
          </a:p>
          <a:p>
            <a:pPr>
              <a:defRPr sz="900">
                <a:solidFill>
                  <a:srgbClr val="F97316"/>
                </a:solidFill>
              </a:defRPr>
            </a:pPr>
            <a:r>
              <a:t>https://ppm.fastsme.com/developers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1222"/>
        </a:solidFill>
        <a:effectLst/>
      </p:bgPr>
    </p:bg>
    <p:spTree>
      <p:nvGrpSpPr>
        <p:cNvPr id="1" name=""/>
        <p:cNvGrpSpPr/>
        <p:nvPr/>
      </p:nvGrpSpPr>
      <p:grpSpPr/>
      <p:sp>
        <p:nvSpPr>
          <p:cNvPr id="2" name="TextBox 1"/>
          <p:cNvSpPr txBox="1"/>
          <p:nvPr/>
        </p:nvSpPr>
        <p:spPr>
          <a:xfrm>
            <a:off x="548640" y="320040"/>
            <a:ext cx="11064240" cy="594360"/>
          </a:xfrm>
          <a:prstGeom prst="rect">
            <a:avLst/>
          </a:prstGeom>
          <a:noFill/>
        </p:spPr>
        <p:txBody>
          <a:bodyPr wrap="none">
            <a:spAutoFit/>
          </a:bodyPr>
          <a:lstStyle/>
          <a:p>
            <a:pPr>
              <a:defRPr sz="2700" b="1">
                <a:solidFill>
                  <a:srgbClr val="F5F7FA"/>
                </a:solidFill>
              </a:defRPr>
            </a:pPr>
            <a:r>
              <a:t>Sign in</a:t>
            </a:r>
          </a:p>
        </p:txBody>
      </p:sp>
      <p:pic>
        <p:nvPicPr>
          <p:cNvPr id="3" name="Picture 2" descr="03-sign-in.png"/>
          <p:cNvPicPr>
            <a:picLocks noChangeAspect="1"/>
          </p:cNvPicPr>
          <p:nvPr/>
        </p:nvPicPr>
        <p:blipFill>
          <a:blip r:embed="rId2"/>
          <a:stretch>
            <a:fillRect/>
          </a:stretch>
        </p:blipFill>
        <p:spPr>
          <a:xfrm>
            <a:off x="548640" y="1097280"/>
            <a:ext cx="7924799" cy="4953000"/>
          </a:xfrm>
          <a:prstGeom prst="rect">
            <a:avLst/>
          </a:prstGeom>
        </p:spPr>
      </p:pic>
      <p:sp>
        <p:nvSpPr>
          <p:cNvPr id="4" name="TextBox 3"/>
          <p:cNvSpPr txBox="1"/>
          <p:nvPr/>
        </p:nvSpPr>
        <p:spPr>
          <a:xfrm>
            <a:off x="9646920" y="1143000"/>
            <a:ext cx="1965960" cy="5120640"/>
          </a:xfrm>
          <a:prstGeom prst="rect">
            <a:avLst/>
          </a:prstGeom>
          <a:noFill/>
        </p:spPr>
        <p:txBody>
          <a:bodyPr wrap="none">
            <a:spAutoFit/>
          </a:bodyPr>
          <a:lstStyle/>
          <a:p>
            <a:pPr>
              <a:defRPr sz="1200">
                <a:solidFill>
                  <a:srgbClr val="B1BCCC"/>
                </a:solidFill>
              </a:defRPr>
            </a:pPr>
            <a:r>
              <a:t>Sign in with Google Sign in to continue to fastsme.com Email or phone Forgot email? Next Create account Afrikaans azərbaycan bosanski català Čeština Cymraeg Dansk Deutsch eesti English (United Kingdom) English (United States) Español (España) Español (Latinoam</a:t>
            </a:r>
          </a:p>
          <a:p>
            <a:pPr>
              <a:defRPr sz="900">
                <a:solidFill>
                  <a:srgbClr val="F97316"/>
                </a:solidFill>
              </a:defRPr>
            </a:pPr>
            <a:r>
              <a:t>https://accounts.google.com/v3/signin/identifier?opparams=%253F&amp;dsh=S-650794498%3A1787122829828716&amp;access_type=online&amp;client_id=887059023987-2a7spj1m82eivobdbt1itb3cqca6tpt1.apps.googleusercontent.com&amp;o2v=2&amp;prompt=select_account&amp;redirect_uri=https%3A%2F%2Fppm.fastsme.com%2Fauth%2Fcallback&amp;response_type=code&amp;scope=openid+email+profile&amp;service=lso&amp;state=awPUeuM2fyEP6zB73icpqUDPznE_s8XA&amp;flowName=GeneralOAuthLite&amp;continue=https%3A%2F%2Faccounts.google.com%2Fsignin%2Foauth%2Flegacy%2Fconsent%3Fauthuser%3Dunknown%26part%3DAJi8hAMefWK8WifqhZxK0f_CcV6Go89fOSRPVuhC6f6xEengJY3nIRKg69YP6H0ELszo2blhnbxYQxaMsn_dQifpGVWWKEBb777XfAF01wLkFiP4-mbIE5wR0ZiS4YR20Z4ViwpJvPTtJlLYgdyWVq3SNtJh4oHv5HB7KX5WchsMu4V-sRIrvr1L2CzUMXuitAO-Oj04ojsclGBz3DZ_6rWTooNeFZxBz_xbiYtU7VLXx-HcOAAxrSTTzO57kqUFEVaIXfk85HBIZzKlBaWZ2pWeRAxjJ9en7Fq5nDP1NMCnoXFLEbjQ_lZUYtJBwT49lFp44HRGNpuIO-cpcS5baf61fgc1qhyLI0Zi-g92JK2gOVGepA3JZT-CiZUzPKa8UxYmQbraz3bymv8Kwm_B0VL-XdU8adVy8Ps-npzqaNBPu3TCp1BIbdvGnXAocCaMuQyogNHkHQncbjnzYN048J4-NcTKs7bTnA%26flowName%3DGeneralOAuthFlow%26as%3DS-650794498%253A1787122829828716%26client_id%3D887059023987-2a7spj1m82eivobdbt1itb3cqca6tpt1.apps.googleusercontent.com%23&amp;app_domain=https%3A%2F%2Fppm.fastsme.com&amp;rart=ANgoxcdIDViz07Yf4xxxsMyKxPWsVaxZ1hMykZXe_hhMt3KdCo46Z4ZyF9DcrcgsH7CCRckGzByrMpfvAz5wDIZN-Ft45moPA8PHGgRDg5ZqMOEQ4ce8D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